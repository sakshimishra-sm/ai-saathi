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25C0346-D9CB-6EF0-0C1A-DBCD98338E9B}">
          <p14:sldIdLst>
            <p14:sldId id="256"/>
          </p14:sldIdLst>
        </p14:section>
        <p14:section name="Problem" id="{0BD6253D-F22D-6D28-B484-B1B0676DD048}">
          <p14:sldIdLst>
            <p14:sldId id="257"/>
            <p14:sldId id="258"/>
          </p14:sldIdLst>
        </p14:section>
        <p14:section name="Solution" id="{87AAA829-EB3F-9339-174B-2A0A2620F5E8}">
          <p14:sldIdLst>
            <p14:sldId id="259"/>
          </p14:sldIdLst>
        </p14:section>
        <p14:section name="How it works" id="{6A64FAA7-B404-5C99-09B2-BF94931CCDBB}">
          <p14:sldIdLst>
            <p14:sldId id="260"/>
          </p14:sldIdLst>
        </p14:section>
        <p14:section name="Data and model" id="{5F7FB5B3-08AF-111B-DC31-07AAC5CFFD02}">
          <p14:sldIdLst>
            <p14:sldId id="261"/>
          </p14:sldIdLst>
        </p14:section>
        <p14:section name="Ethics and safety" id="{EC406B54-2779-3ADB-CAC4-06911AF1DDB6}">
          <p14:sldIdLst>
            <p14:sldId id="262"/>
          </p14:sldIdLst>
        </p14:section>
        <p14:section name="Implementation" id="{822AE5B9-C6F3-224D-4CAF-5BACE68A9E88}">
          <p14:sldIdLst>
            <p14:sldId id="263"/>
          </p14:sldIdLst>
        </p14:section>
        <p14:section name="Impact" id="{55F9C236-9307-5A66-0E72-E86D4AD27E61}">
          <p14:sldIdLst>
            <p14:sldId id="264"/>
          </p14:sldIdLst>
        </p14:section>
        <p14:section name="Risks" id="{84B0990A-30DC-5CAD-5014-F03B86AF9A53}">
          <p14:sldIdLst>
            <p14:sldId id="265"/>
          </p14:sldIdLst>
        </p14:section>
        <p14:section name="Scale" id="{81937BD8-A185-84FA-4553-D8E7366970BD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072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Saathi: companion in Hindi and Odia. A gentle first step toward mental wellbeing, and a bridge to real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human-first. Add a locally sourced statistic here (e.g. national or state counsellor-to-population ratio) and cite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short persona story. Replace with a real quote from your co-design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screening score is never an AI guess. AI handles conversation; rules handle scoring and crisis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FC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7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FC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CCFC6"/>
                </a:solidFill>
              </a:rPr>
              <a:t>SDG 3  ·  GOOD HEALTH AND WELL-BEING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companion for mental health screening and support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7B7AE"/>
                </a:solidFill>
              </a:rPr>
              <a:t>"You don't have to figure it out alone."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FC6"/>
                </a:solidFill>
              </a:rPr>
              <a:t>Sakshi Kumari   |   IBM </a:t>
            </a:r>
            <a:r>
              <a:rPr lang="en-US" sz="1200" dirty="0" err="1">
                <a:solidFill>
                  <a:srgbClr val="9CCFC6"/>
                </a:solidFill>
              </a:rPr>
              <a:t>SkillsBuild</a:t>
            </a:r>
            <a:r>
              <a:rPr lang="en-US" sz="1200" dirty="0">
                <a:solidFill>
                  <a:srgbClr val="9CCFC6"/>
                </a:solidFill>
              </a:rPr>
              <a:t> 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0" y="2651760"/>
            <a:ext cx="2743200" cy="2743200"/>
          </a:xfrm>
          <a:prstGeom prst="ellipse">
            <a:avLst/>
          </a:prstGeom>
          <a:solidFill>
            <a:srgbClr val="D9534F">
              <a:alpha val="25000"/>
            </a:srgbClr>
          </a:solidFill>
          <a:ln w="12700">
            <a:solidFill>
              <a:srgbClr val="D9534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914400"/>
            <a:ext cx="2011680" cy="2011680"/>
          </a:xfrm>
          <a:prstGeom prst="ellipse">
            <a:avLst/>
          </a:prstGeom>
          <a:solidFill>
            <a:srgbClr val="3FA796">
              <a:alpha val="40000"/>
            </a:srgbClr>
          </a:solidFill>
          <a:ln w="12700">
            <a:solidFill>
              <a:srgbClr val="3FA796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FC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young people suffer in silence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</a:rPr>
              <a:t>Stigma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B"/>
                </a:solidFill>
              </a:rPr>
              <a:t>Many never speak about stress, anxiety or low mood.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</a:rPr>
              <a:t>Scarcity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B"/>
                </a:solidFill>
              </a:rPr>
              <a:t>Counsellors are few and costly, especially outside metros.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81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</a:rPr>
              <a:t>Uncertainty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B"/>
                </a:solidFill>
              </a:rPr>
              <a:t>People can't tell if what they feel is "serious enough" to seek help.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arrives late, or not at all.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7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 here to help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Students and young adults, 16–29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</a:rPr>
              <a:t>A student in a Tier-2/3 city, up late, worried about exams and the future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</a:rPr>
              <a:t>Does not know who to talk to, or fears being judged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</a:rPr>
              <a:t>Uses WhatsApp every day; prefers their own language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66344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53D39"/>
                </a:solidFill>
              </a:rPr>
              <a:t>Counsellors and NGOs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</a:rPr>
              <a:t>Campus counsellors stretched thin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</a:rPr>
              <a:t>Want to know where support is needed most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</a:rPr>
              <a:t>Receive anonymised, aggregate insights only, never private chats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7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Saathi: a gentle first step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 private, friendly chatbot that helps you check in, understand how you feel, and connect to real help, in English, Hindi or Odia.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563"/>
                </a:solidFill>
              </a:rPr>
              <a:t>Check in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Warm mood conversations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563"/>
                </a:solidFill>
              </a:rPr>
              <a:t>Screen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Trusted PHQ-9 and GAD-7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563"/>
                </a:solidFill>
              </a:rPr>
              <a:t>Support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Simple self-care tools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20840" y="23774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487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563"/>
                </a:solidFill>
              </a:rPr>
              <a:t>Refer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Counsellors and helplines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7B7AE"/>
                </a:solidFill>
              </a:rPr>
              <a:t>A support tool, not a replacement for professionals.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FC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Saathi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3000" y="1280160"/>
            <a:ext cx="640080" cy="640080"/>
          </a:xfrm>
          <a:prstGeom prst="ellipse">
            <a:avLst/>
          </a:prstGeom>
          <a:solidFill>
            <a:srgbClr val="0B5563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563"/>
                </a:solidFill>
              </a:rPr>
              <a:t>Check-in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2B"/>
                </a:solidFill>
              </a:rPr>
              <a:t>Friendly chat on WhatsApp or web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CFC6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640080" cy="640080"/>
          </a:xfrm>
          <a:prstGeom prst="ellipse">
            <a:avLst/>
          </a:prstGeom>
          <a:solidFill>
            <a:srgbClr val="0B5563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563"/>
                </a:solidFill>
              </a:rPr>
              <a:t>Screening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468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2B"/>
                </a:solidFill>
              </a:rPr>
              <a:t>Validated questions, scored by rules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CFC6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257800" y="1280160"/>
            <a:ext cx="640080" cy="640080"/>
          </a:xfrm>
          <a:prstGeom prst="ellipse">
            <a:avLst/>
          </a:prstGeom>
          <a:solidFill>
            <a:srgbClr val="0B5563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563"/>
                </a:solidFill>
              </a:rPr>
              <a:t>Support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468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2B"/>
                </a:solidFill>
              </a:rPr>
              <a:t>Breathing, grounding, journaling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CFC6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0" y="1280160"/>
            <a:ext cx="640080" cy="640080"/>
          </a:xfrm>
          <a:prstGeom prst="ellipse">
            <a:avLst/>
          </a:prstGeom>
          <a:solidFill>
            <a:srgbClr val="0B5563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563"/>
                </a:solidFill>
              </a:rPr>
              <a:t>Referral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4688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2B"/>
                </a:solidFill>
              </a:rPr>
              <a:t>Counsellor or helpline if needed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520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3D39"/>
                </a:solidFill>
              </a:rPr>
              <a:t>Crisis path: </a:t>
            </a:r>
            <a:r>
              <a:rPr lang="en-US" sz="1500" dirty="0">
                <a:solidFill>
                  <a:srgbClr val="1F2D2B"/>
                </a:solidFill>
              </a:rPr>
              <a:t>if someone mentions self-harm, the normal flow stops. Saathi responds with care and shares emergency contacts straight away.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7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model: simple, safe, explainable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Content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Open validated questionnaires (PHQ-9, GAD-7)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Clinician-reviewed self-care scripts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Localised in 3 languages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Models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Language model for warm conversation and distress cues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Rule-based scoring for screening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Scripted, fixed crisis replies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035040" y="128016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Data we keep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Minimal and anonymised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Stored only with consent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Deletable by the user at any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7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and safety come first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89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Not a diagnosis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Says so clearly and often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89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Consent first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Anonymised, encrypted, deletable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89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No ads, no data sales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Ever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944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Crisis protocol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Helpline hand-off, e.g. Tele-MANAS 14416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944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Fairness checks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Across languages, genders, regions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944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Human review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Clinicians review flagged chats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FC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12-month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0B5563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Months 0–3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20116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5563"/>
                </a:solidFill>
              </a:rPr>
              <a:t>Co-design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Work with students and counsellors; build the prototype.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 w="12700">
            <a:solidFill>
              <a:srgbClr val="3FA7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Months 3–6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3291840" y="20116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5563"/>
                </a:solidFill>
              </a:rPr>
              <a:t>Pilot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1–2 colleges; gather feedback; test crisis responses.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Months 6–12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035040" y="20116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121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5563"/>
                </a:solidFill>
              </a:rPr>
              <a:t>Improve and grow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51460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B"/>
                </a:solidFill>
              </a:rPr>
              <a:t>More languages, counsellor dashboard, NGO and helpline partners.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7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measure impact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</a:rPr>
              <a:t>Reach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B"/>
                </a:solidFill>
              </a:rPr>
              <a:t>Users screened and active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663440" y="128016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</a:rPr>
              <a:t>Engagement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B"/>
                </a:solidFill>
              </a:rPr>
              <a:t>Repeat check-ins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27432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</a:rPr>
              <a:t>Connection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B"/>
                </a:solidFill>
              </a:rPr>
              <a:t>Referrals to counsellors and helplines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663440" y="27432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5563"/>
                </a:solidFill>
              </a:rPr>
              <a:t>Trust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B"/>
                </a:solidFill>
              </a:rPr>
              <a:t>Comfort and helpfulness ratings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F7C"/>
                </a:solidFill>
              </a:rPr>
              <a:t>Plus: safe handling of every crisis hand-off, and counsellor feedback.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7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how we handle them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3017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</a:rPr>
                        <a:t>Crisis missed or mishandled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</a:rPr>
                        <a:t>Safeguards, fixed replies, helpline hand-off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</a:rPr>
                        <a:t>Over-reliance on the bot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</a:rPr>
                        <a:t>Nudges to real people; no therapy claims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</a:rPr>
                        <a:t>Privacy breach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</a:rPr>
                        <a:t>Minimal data, encryption, consent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</a:rPr>
                        <a:t>Biased or insensitive replies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</a:rPr>
                        <a:t>Local co-design, clinician review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</a:rPr>
                        <a:t>AI errors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</a:rPr>
                        <a:t>Scripted clinical content, human review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F7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Where we go next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More Indian languages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More campuses and communities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NGO and helpline partnerships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Sustainable: college licences, CSR, grants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2801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563"/>
                </a:solidFill>
              </a:rPr>
              <a:t>What we need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Mentors in mental health and AI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Pilot partner colleges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</a:rPr>
              <a:t>Clinical advisors for content review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7B7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Saathi: because the first conversation shouldn't be the hardest 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FC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athi">
  <a:themeElements>
    <a:clrScheme name="Saathi">
      <a:dk1>
        <a:srgbClr val="1F2D2B"/>
      </a:dk1>
      <a:lt1>
        <a:srgbClr val="FFFFFF"/>
      </a:lt1>
      <a:dk2>
        <a:srgbClr val="0B5563"/>
      </a:dk2>
      <a:lt2>
        <a:srgbClr val="E6F4F1"/>
      </a:lt2>
      <a:accent1>
        <a:srgbClr val="0B5563"/>
      </a:accent1>
      <a:accent2>
        <a:srgbClr val="D9534F"/>
      </a:accent2>
      <a:accent3>
        <a:srgbClr val="3FA796"/>
      </a:accent3>
      <a:accent4>
        <a:srgbClr val="F2B880"/>
      </a:accent4>
      <a:accent5>
        <a:srgbClr val="9CCFC6"/>
      </a:accent5>
      <a:accent6>
        <a:srgbClr val="6B7F7C"/>
      </a:accent6>
      <a:hlink>
        <a:srgbClr val="0B5563"/>
      </a:hlink>
      <a:folHlink>
        <a:srgbClr val="6B7F7C"/>
      </a:folHlink>
    </a:clrScheme>
    <a:fontScheme name="Saath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704</Words>
  <Application>Microsoft Office PowerPoint</Application>
  <PresentationFormat>On-screen Show (16:9)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Saathi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Saathi: AI for Mental Health Screening and Support</dc:title>
  <dc:subject>PptxGenJS Presentation</dc:subject>
  <dc:creator>PptxGenJS</dc:creator>
  <cp:lastModifiedBy>Aayush Rehal</cp:lastModifiedBy>
  <cp:revision>3</cp:revision>
  <dcterms:created xsi:type="dcterms:W3CDTF">2026-10-07T15:45:41Z</dcterms:created>
  <dcterms:modified xsi:type="dcterms:W3CDTF">2026-10-07T15:56:06Z</dcterms:modified>
</cp:coreProperties>
</file>